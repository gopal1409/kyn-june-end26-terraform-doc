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463040"/>
            <a:ext cx="5029200" cy="5029200"/>
          </a:xfrm>
          <a:prstGeom prst="ellipse">
            <a:avLst/>
          </a:prstGeom>
          <a:solidFill>
            <a:srgbClr val="6B3FA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2926080"/>
            <a:ext cx="3840480" cy="3840480"/>
          </a:xfrm>
          <a:prstGeom prst="ellipse">
            <a:avLst/>
          </a:prstGeom>
          <a:solidFill>
            <a:srgbClr val="6B3FA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822960" cy="822960"/>
          </a:xfrm>
          <a:prstGeom prst="ellipse">
            <a:avLst/>
          </a:prstGeom>
          <a:solidFill>
            <a:srgbClr val="6B3FA0"/>
          </a:solidFill>
          <a:ln/>
        </p:spPr>
      </p:sp>
      <p:pic>
        <p:nvPicPr>
          <p:cNvPr id="5" name="Image 0" descr="/home/claude/icons/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899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B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 ·  TRAINING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1031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Modules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4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Structure, Best Practices &amp; Publishing to GitHub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3794760"/>
            <a:ext cx="219456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anatomy to your first git push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22476"/>
            <a:ext cx="566928" cy="566928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6" name="Image 0" descr="/home/claude/icons/cube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69" y="166987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807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Fundamentals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7160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Terraform modules are and why they matter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12344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38928" y="1522476"/>
            <a:ext cx="566928" cy="566928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1" name="Image 1" descr="/home/claude/icons/sitemap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29" y="1669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3807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85216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layout for root &amp; child modules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487168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2775204"/>
            <a:ext cx="566928" cy="566928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6" name="Image 2" descr="/home/claude/icons/fil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9" y="292260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633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File-by-File Breakdown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71600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main.tf, variables.tf, outputs.tf &amp; more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37760" y="2487168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38928" y="2775204"/>
            <a:ext cx="566928" cy="566928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21" name="Image 3" descr="/home/claude/icons/shield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29" y="2922605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2633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852160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that keep modules reusable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739896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8368" y="4027932"/>
            <a:ext cx="566928" cy="566928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26" name="Image 4" descr="/home/claude/icons/github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69" y="417533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3886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to GitHub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371600" y="41970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init, commit, push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937760" y="3739896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138928" y="4027932"/>
            <a:ext cx="566928" cy="566928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31" name="Image 5" descr="/home/claude/icons/tag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29" y="417533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852160" y="3886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Consuming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5852160" y="41970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releases and sourcing modules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Terraform Module?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a </a:t>
            </a:r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for multiple resources</a:t>
            </a:r>
            <a:pPr indent="0" marL="0">
              <a:buNone/>
            </a:pPr>
            <a:r>
              <a:rPr lang="en-US" sz="15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are used together.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Terraform configuration has at least one module — the root module (your working directory)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modules are called from other configurations to encapsulate and reuse resource definitions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accept input variables and expose output values, just like functions in code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be sourced locally, from Git repositories, or from the Terraform Registry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12080" y="141732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2A144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0" y="1618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B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MODULE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32120" y="2377440"/>
            <a:ext cx="2743200" cy="1737360"/>
          </a:xfrm>
          <a:prstGeom prst="roundRect">
            <a:avLst>
              <a:gd name="adj" fmla="val 3684"/>
            </a:avLst>
          </a:prstGeom>
          <a:solidFill>
            <a:srgbClr val="6B3FA0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2514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"network"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2770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"./modules/vnet"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0" y="3008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address_space = ["10.0.0.0/16"]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571500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B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CHILD MODULE: reusable Azure VNet resources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Consistent Structure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594360" cy="5943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6" name="Image 0" descr="/home/claude/icons/exchang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766" y="178216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63040" y="19385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same module across projects, environments, and teams without rewriting 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37160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02352" y="1627632"/>
            <a:ext cx="594360" cy="5943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1" name="Image 1" descr="/home/claude/icons/slider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886" y="178216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852160" y="19385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file layout means anyone can open a module and know where to look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410712"/>
            <a:ext cx="594360" cy="5943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6" name="Image 2" descr="/home/claude/icons/layer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6" y="356524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463040" y="37216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of inputs, logic, and outputs makes code review straightforward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315468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02352" y="3410712"/>
            <a:ext cx="594360" cy="5943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21" name="Image 3" descr="/home/claude/icons/tag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886" y="356524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852160" y="37216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structure is what makes Git tagging and semantic versioning meaningful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Module Directory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conventional layout HashiCorp recommends for a standalone Terraform module repository.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1E153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28800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28800"/>
            <a:ext cx="109728" cy="109728"/>
          </a:xfrm>
          <a:prstGeom prst="ellipse">
            <a:avLst/>
          </a:prstGeom>
          <a:solidFill>
            <a:srgbClr val="F2C572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828800"/>
            <a:ext cx="109728" cy="109728"/>
          </a:xfrm>
          <a:prstGeom prst="ellipse">
            <a:avLst/>
          </a:prstGeom>
          <a:solidFill>
            <a:srgbClr val="8BE9C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terraform-azurerm-vnet/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299716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496312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692908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outputs.tf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2889504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versions.tf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086100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E9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282696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E9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LICENSE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479292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E9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675888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examples/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872484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basic/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069080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main.tf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265676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modules/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462272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subnet/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658868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main.tf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855464"/>
            <a:ext cx="74980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variables.tf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FILE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File-by-File Breakdown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408176"/>
            <a:ext cx="402336" cy="402336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6" name="Image 0" descr="/home/claude/icons/fil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111" y="1512783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353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" y="15910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resource definitions — the core logic of the module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57200" y="2066544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" y="2194560"/>
            <a:ext cx="402336" cy="402336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1" name="Image 1" descr="/home/claude/icons/slider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11" y="2299167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21396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15568" y="2377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 declarations: names, types, defaults, descriptions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457200" y="2852928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" y="2980944"/>
            <a:ext cx="402336" cy="402336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6" name="Image 2" descr="/home/claude/icons/exchang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11" y="3085551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15568" y="31638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exposed to whatever calls this module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4937760" y="1280160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84064" y="1408176"/>
            <a:ext cx="402336" cy="402336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21" name="Image 3" descr="/home/claude/icons/loc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671" y="1512783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96128" y="1353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versions.tf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596128" y="15910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Terraform &amp; provider version constraints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937760" y="2066544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084064" y="2194560"/>
            <a:ext cx="402336" cy="402336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26" name="Image 4" descr="/home/claude/icons/book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8671" y="2299167"/>
            <a:ext cx="193121" cy="1931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96128" y="21396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596128" y="2377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docs: inputs, outputs, and an example block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4937760" y="2852928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084064" y="2980944"/>
            <a:ext cx="402336" cy="402336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31" name="Image 5" descr="/home/claude/icons/boxopen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8671" y="3085551"/>
            <a:ext cx="193121" cy="1931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96128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examples/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596128" y="31638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example configurations that call the module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Multi-Env Azure VNet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663440" cy="3657600"/>
          </a:xfrm>
          <a:prstGeom prst="roundRect">
            <a:avLst>
              <a:gd name="adj" fmla="val 2000"/>
            </a:avLst>
          </a:prstGeom>
          <a:solidFill>
            <a:srgbClr val="1E15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741932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975104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vnet/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208276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main.tf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variables.tf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674620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outputs.tf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907792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environments/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140964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dev/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374136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E9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main.tf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607308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E9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terraform.tfvars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prod/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073652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E9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main.tf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306824"/>
            <a:ext cx="4023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E9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terraform.tfvars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949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environments/ calls modules/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94960" y="17830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modules/vnet holds only reusable azurerm_virtual_network &amp; subnet logic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environments/dev and environments/prod each call the module with their own resource group, region, and address space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 keeps subscription and environment-specific data out of the module itself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scales cleanly as you add staging, QA, or new Azure regions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Module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5" name="Image 0" descr="/home/claude/icons/check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98" y="1375258"/>
            <a:ext cx="175565" cy="1755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984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module, one purpose — don't let a module manage unrelated infrastructure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365760" cy="3657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8" name="Image 1" descr="/home/claude/icons/check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8" y="1942186"/>
            <a:ext cx="175565" cy="1755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8653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declare variable types and descriptions — never leave them implicit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414016"/>
            <a:ext cx="365760" cy="3657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1" name="Image 2" descr="/home/claude/icons/check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2509114"/>
            <a:ext cx="175565" cy="1755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4323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provider and Terraform versions in versions.tf to avoid surprise upgrades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2980944"/>
            <a:ext cx="365760" cy="3657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4" name="Image 3" descr="/home/claude/icons/chec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8" y="3076042"/>
            <a:ext cx="175565" cy="1755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29992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examples/ directory so consumers see a working call to the module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547872"/>
            <a:ext cx="365760" cy="3657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7" name="Image 4" descr="/home/claude/icons/check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8" y="3642970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566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values that should be inputs — parameterize anything environment-specific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20" name="Image 5" descr="/home/claude/icons/check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98" y="4209898"/>
            <a:ext cx="175565" cy="17556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41330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input and output in README.md, ideally with terraform-docs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Your Module for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594360" cy="5943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6" name="Image 0" descr="/home/claude/icons/book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766" y="178216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63040" y="19385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usage example, inputs &amp; outputs table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37160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02352" y="1627632"/>
            <a:ext cx="594360" cy="5943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1" name="Image 1" descr="/home/claude/icons/shield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886" y="178216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852160" y="19385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open-source license (MIT, Apache-2.0, etc.)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410712"/>
            <a:ext cx="594360" cy="5943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6" name="Image 2" descr="/home/claude/icons/fil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6" y="356524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463040" y="37216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.terraform/, *.tfstate, and *.tfvars with secrets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315468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02352" y="3410712"/>
            <a:ext cx="594360" cy="59436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21" name="Image 3" descr="/home/claude/icons/loc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886" y="356524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Pinned Versions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852160" y="37216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provider &amp; Terraform versions in versions.tf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Uploading to GitHub: The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2A1449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5636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21945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2651760"/>
            <a:ext cx="16367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GitHub, click New repository and name it (e.g. terraform-azurerm-vnet)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04872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6B3FA0"/>
          </a:solidFill>
          <a:ln/>
        </p:spPr>
      </p:sp>
      <p:sp>
        <p:nvSpPr>
          <p:cNvPr id="10" name="Text 8"/>
          <p:cNvSpPr/>
          <p:nvPr/>
        </p:nvSpPr>
        <p:spPr>
          <a:xfrm>
            <a:off x="2724912" y="15636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24912" y="21945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Git Locally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24912" y="2651760"/>
            <a:ext cx="16367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init inside your module folder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07992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2A1449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5636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828032" y="21945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Files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28032" y="2651760"/>
            <a:ext cx="16367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commit main.tf, variables.tf, outputs.tf, README.md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11112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6B3FA0"/>
          </a:solidFill>
          <a:ln/>
        </p:spPr>
      </p:sp>
      <p:sp>
        <p:nvSpPr>
          <p:cNvPr id="20" name="Text 18"/>
          <p:cNvSpPr/>
          <p:nvPr/>
        </p:nvSpPr>
        <p:spPr>
          <a:xfrm>
            <a:off x="6931152" y="15636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931152" y="21945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31152" y="2651760"/>
            <a:ext cx="16367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remote and push your commit to the main branch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Commands Reference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657600"/>
          </a:xfrm>
          <a:prstGeom prst="roundRect">
            <a:avLst>
              <a:gd name="adj" fmla="val 2000"/>
            </a:avLst>
          </a:prstGeom>
          <a:solidFill>
            <a:srgbClr val="1E1533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17320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17320"/>
            <a:ext cx="109728" cy="109728"/>
          </a:xfrm>
          <a:prstGeom prst="ellipse">
            <a:avLst/>
          </a:prstGeom>
          <a:solidFill>
            <a:srgbClr val="F2C572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417320"/>
            <a:ext cx="109728" cy="109728"/>
          </a:xfrm>
          <a:prstGeom prst="ellipse">
            <a:avLst/>
          </a:prstGeom>
          <a:solidFill>
            <a:srgbClr val="8BE9C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Initialize a git repository in the module folder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869948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93976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318004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Stage all module files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42032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766060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990088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Commit with a clear message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214116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"Initial commit: Azure VNet module"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438144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662172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Rename branch and link your GitHub repo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-M main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110228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E9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https://github.com/&lt;user&gt;/terraform-azurerm-vnet.git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334256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558284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Push to GitHub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782312"/>
            <a:ext cx="74980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&amp; Version Your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 consumers pin to Git tags, so every meaningful change should get a version tag.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semantic versioning: MAJOR.MINOR.PATCH (e.g. v1.2.0)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— breaking changes to inputs/outputs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— backward-compatible new features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— backward-compatible bug fixes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1E153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55448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an annotated tag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0" y="184708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tag -a v1.0.0 \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0" y="213969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-m "Initial release"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0" y="243230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0" y="27249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the tag to GitHub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301752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v1.0.0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0" y="331012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360273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all tags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38953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tag -l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SYNTAX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Consuming Your Module from GitHub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pushed and tagged, anyone can reference your module directly from GitHub — pinned to a specific version: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1E15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"vnet" {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E9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"git::https://github.com/&lt;user&gt;/terraform-azurerm-vnet.git?ref=v1.0.0"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963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resource_group_name = "rg-prod-network"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449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address_space       = ["10.0.0.0/16"]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3192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11480" cy="41148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3" name="Image 0" descr="/home/claude/icons/check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4084625"/>
            <a:ext cx="197510" cy="1975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3977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?ref=v1.0.0 </a:t>
            </a:r>
            <a:pPr indent="0" marL="0">
              <a:buNone/>
            </a:pPr>
            <a:r>
              <a:rPr lang="en-US" sz="120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the module to that exact tag — upgrades become a deliberate, reviewable change.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PLAIN GITHUB LINK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Optional: Publish to the Terraform Registry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5" name="Image 0" descr="/home/claude/icons/github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533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must be named terraform-&lt;PROVIDER&gt;-&lt;NAME&gt;, e.g. terraform-azurerm-vnet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548640" cy="54864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9" name="Image 1" descr="/home/claude/icons/sitemap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229148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1305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structure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8872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requires the same root-level main.tf / variables.tf / outputs.tf layout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3" name="Image 2" descr="/home/claude/icons/tag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0687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9077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 tags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are pulled directly from your x.y.z Git tags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7" name="Image 3" descr="/home/claude/icons/boo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38459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685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required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8872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renders your README.md as the module's documentation page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" cy="420624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5" name="Image 0" descr="/home/claude/icons/check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562" y="1435242"/>
            <a:ext cx="201900" cy="201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350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every module the same way: main.tf, variables.tf, outputs.tf, versions.tf, README.md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420624" cy="420624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8" name="Image 1" descr="/home/claude/icons/check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62" y="2093610"/>
            <a:ext cx="201900" cy="2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9933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reusable logic (modules/) from environment-specific configuration (environments/)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" y="2642616"/>
            <a:ext cx="420624" cy="420624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1" name="Image 2" descr="/home/claude/icons/check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62" y="2751978"/>
            <a:ext cx="201900" cy="201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651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GitHub with a README, LICENSE, .gitignore, and pinned versions before your first push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457200" y="3300984"/>
            <a:ext cx="420624" cy="420624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4" name="Image 3" descr="/home/claude/icons/chec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62" y="3410346"/>
            <a:ext cx="201900" cy="201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3101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→ add → commit → remote add → push gets your module onto GitHub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457200" y="3959352"/>
            <a:ext cx="420624" cy="420624"/>
          </a:xfrm>
          <a:prstGeom prst="ellipse">
            <a:avLst/>
          </a:prstGeom>
          <a:solidFill>
            <a:srgbClr val="EFE9FA"/>
          </a:solidFill>
          <a:ln/>
        </p:spPr>
      </p:sp>
      <p:pic>
        <p:nvPicPr>
          <p:cNvPr id="17" name="Image 4" descr="/home/claude/icons/check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62" y="4068714"/>
            <a:ext cx="201900" cy="2019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9684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releases with semantic versions so consumers can pin with ?ref=vX.Y.Z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8732520" y="4873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45720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1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6B3FA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377440"/>
            <a:ext cx="4114800" cy="4114800"/>
          </a:xfrm>
          <a:prstGeom prst="ellipse">
            <a:avLst/>
          </a:prstGeom>
          <a:solidFill>
            <a:srgbClr val="6B3FA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60520" y="1188720"/>
            <a:ext cx="822960" cy="822960"/>
          </a:xfrm>
          <a:prstGeom prst="ellipse">
            <a:avLst/>
          </a:prstGeom>
          <a:solidFill>
            <a:srgbClr val="6B3FA0"/>
          </a:solidFill>
          <a:ln/>
        </p:spPr>
      </p:sp>
      <p:pic>
        <p:nvPicPr>
          <p:cNvPr id="5" name="Image 0" descr="/home/claude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490" y="14026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4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931920" y="3520440"/>
            <a:ext cx="128016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Modules: Directory Structure &amp; GitHub Publishing</dc:title>
  <dc:subject>PptxGenJS Presentation</dc:subject>
  <dc:creator>Terraform Training</dc:creator>
  <cp:lastModifiedBy>Terraform Training</cp:lastModifiedBy>
  <cp:revision>1</cp:revision>
  <dcterms:created xsi:type="dcterms:W3CDTF">2026-07-02T04:08:51Z</dcterms:created>
  <dcterms:modified xsi:type="dcterms:W3CDTF">2026-07-02T04:08:51Z</dcterms:modified>
</cp:coreProperties>
</file>